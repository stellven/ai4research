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7572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Noto Sans CJK SC"/>
              </a:rPr>
              <a:t>Solar‑Harness 后续设计：意图编译 → DAG 调度 → 评测驱动自进化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1206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Noto Sans CJK SC"/>
              </a:rPr>
              <a:t>一页架构整理：以 Verifier / Benchmark 为基础设施，统一多 Agent、Code Agent、Web 与 Skills 的执行闭环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941832"/>
            <a:ext cx="8339327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0" y="941832"/>
            <a:ext cx="2971800" cy="55778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19" b="1">
                <a:solidFill>
                  <a:srgbClr val="64748B"/>
                </a:solidFill>
                <a:latin typeface="Noto Sans CJK SC"/>
              </a:rPr>
              <a:t>Solar‑Harness Stack / 核心栈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0848" y="98755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Noto Sans CJK SC"/>
              </a:rPr>
              <a:t>Loop Runtime / 运行闭环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786384"/>
            <a:ext cx="251460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2563EB"/>
                </a:solidFill>
                <a:latin typeface="Noto Sans CJK SC"/>
              </a:rPr>
              <a:t>Query Input / 用户问题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62272" y="1097280"/>
            <a:ext cx="0" cy="137160"/>
          </a:xfrm>
          <a:prstGeom prst="line">
            <a:avLst/>
          </a:prstGeom>
          <a:ln w="2032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" y="1225296"/>
            <a:ext cx="7790688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35024"/>
            <a:ext cx="1170432" cy="246888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1 ·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289304"/>
            <a:ext cx="614476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Noto Sans CJK SC"/>
              </a:rPr>
              <a:t>Intent Compiler｜意图编译层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1572768"/>
            <a:ext cx="6144768" cy="25603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Noto Sans CJK SC"/>
              </a:rPr>
              <a:t>Query → Intent / Context / Scope / Constraints；把自然语言需求编译为可执行任务语义。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1938528"/>
            <a:ext cx="7790688" cy="75895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048256"/>
            <a:ext cx="1170432" cy="246888"/>
          </a:xfrm>
          <a:prstGeom prst="round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2 · Core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2002536"/>
            <a:ext cx="614476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Noto Sans CJK SC"/>
              </a:rPr>
              <a:t>Solar‑Harness Core (DAG)｜计划与调度核心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2286000"/>
            <a:ext cx="6144768" cy="37490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Noto Sans CJK SC"/>
              </a:rPr>
              <a:t>Plan IR / TaskGraph / Main Loop Dispatch / Message Bus；负责分解、依赖、调度、状态与消息。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770632"/>
            <a:ext cx="7790688" cy="62179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1170432" cy="246888"/>
          </a:xfrm>
          <a:prstGeom prst="roundRect">
            <a:avLst/>
          </a:prstGeom>
          <a:solidFill>
            <a:srgbClr val="7E22CE"/>
          </a:solidFill>
          <a:ln w="63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3 · Optimize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2834639"/>
            <a:ext cx="614476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Noto Sans CJK SC"/>
              </a:rPr>
              <a:t>Optimization Plane｜优化层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3118103"/>
            <a:ext cx="6144768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Noto Sans CJK SC"/>
              </a:rPr>
              <a:t>GEPA / Skill Optimization / Operator Selection；基于反馈优化 Prompt、Skills、Operators 与策略。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65576"/>
            <a:ext cx="7790688" cy="11247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575304"/>
            <a:ext cx="1325880" cy="246888"/>
          </a:xfrm>
          <a:prstGeom prst="roundRect">
            <a:avLst/>
          </a:prstGeom>
          <a:solidFill>
            <a:srgbClr val="16A34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4 ·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352958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20" b="1">
                <a:solidFill>
                  <a:srgbClr val="0F172A"/>
                </a:solidFill>
                <a:latin typeface="Noto Sans CJK SC"/>
              </a:rPr>
              <a:t>Data + Evaluation Harness｜数据与评测基础设施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3867912"/>
            <a:ext cx="3154680" cy="6035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" y="3941064"/>
            <a:ext cx="210312" cy="210312"/>
          </a:xfrm>
          <a:prstGeom prst="roundRect">
            <a:avLst/>
          </a:prstGeom>
          <a:solidFill>
            <a:srgbClr val="0D9488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" b="1">
                <a:solidFill>
                  <a:srgbClr val="FFFFFF"/>
                </a:solidFill>
                <a:latin typeface="Noto Sans CJK SC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39136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Noto Sans CJK SC"/>
              </a:rPr>
              <a:t>Data Harness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Noto Sans CJK SC"/>
              </a:rPr>
              <a:t>Corpus / artifacts / traces / evidence store
统一数据、证据与运行产物。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867912"/>
            <a:ext cx="3813048" cy="6035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70831" y="3941064"/>
            <a:ext cx="210312" cy="210312"/>
          </a:xfrm>
          <a:prstGeom prst="roundRect">
            <a:avLst/>
          </a:prstGeom>
          <a:solidFill>
            <a:srgbClr val="16A34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" b="1">
                <a:solidFill>
                  <a:srgbClr val="FFFFFF"/>
                </a:solidFill>
                <a:latin typeface="Noto Sans CJK SC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1" y="3913632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Noto Sans CJK SC"/>
              </a:rPr>
              <a:t>Verifier &amp; Benchmark as 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1" y="4160520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Noto Sans CJK SC"/>
              </a:rPr>
              <a:t>Claim checking / benchmark runner / reproducibility gate
把验证与基准测试变成平台能力。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59935" y="4169663"/>
            <a:ext cx="237744" cy="0"/>
          </a:xfrm>
          <a:prstGeom prst="line">
            <a:avLst/>
          </a:prstGeom>
          <a:ln w="1778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059935" y="4242816"/>
            <a:ext cx="237744" cy="0"/>
          </a:xfrm>
          <a:prstGeom prst="line">
            <a:avLst/>
          </a:prstGeom>
          <a:ln w="1397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4773168"/>
            <a:ext cx="1078992" cy="694944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19" b="1">
                <a:solidFill>
                  <a:srgbClr val="92400E"/>
                </a:solidFill>
                <a:latin typeface="Noto Sans CJK SC"/>
              </a:rPr>
              <a:t>Capability
Capsule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45896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20" b="0">
                <a:solidFill>
                  <a:srgbClr val="92400E"/>
                </a:solidFill>
                <a:latin typeface="Noto Sans CJK SC"/>
              </a:rPr>
              <a:t>权限 / I/O / 证据协议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1952" y="4773168"/>
            <a:ext cx="6510528" cy="69494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011680" y="4882896"/>
            <a:ext cx="1298448" cy="246888"/>
          </a:xfrm>
          <a:prstGeom prst="roundRect">
            <a:avLst/>
          </a:prstGeom>
          <a:solidFill>
            <a:srgbClr val="EA580C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5 · Execute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8144" y="4837176"/>
            <a:ext cx="461772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20" b="1">
                <a:solidFill>
                  <a:srgbClr val="0F172A"/>
                </a:solidFill>
                <a:latin typeface="Noto Sans CJK SC"/>
              </a:rPr>
              <a:t>Operator Execution Layer｜算子执行层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8144" y="5102352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  <a:latin typeface="Noto Sans CJK SC"/>
              </a:rPr>
              <a:t>Logical Operator → Physical Operator → Agent / Tool Runtime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37360" y="5120640"/>
            <a:ext cx="164592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17136" y="1865376"/>
            <a:ext cx="0" cy="73152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17136" y="2697480"/>
            <a:ext cx="0" cy="73152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17136" y="3392424"/>
            <a:ext cx="0" cy="73152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7136" y="4590288"/>
            <a:ext cx="0" cy="18288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3232" y="5650992"/>
            <a:ext cx="7699248" cy="6675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CD3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678424"/>
            <a:ext cx="1444752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670" b="1">
                <a:solidFill>
                  <a:srgbClr val="92400E"/>
                </a:solidFill>
                <a:latin typeface="Noto Sans CJK SC"/>
              </a:rPr>
              <a:t>Fleet of Agents / 执行体资源池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7552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Skills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27048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377440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Claude Code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916936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67328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Codex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06824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157216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GLM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96712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547104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Web / Browser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86600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ircular Arrow 57"/>
          <p:cNvSpPr/>
          <p:nvPr/>
        </p:nvSpPr>
        <p:spPr>
          <a:xfrm>
            <a:off x="9427464" y="1472184"/>
            <a:ext cx="1874519" cy="1874519"/>
          </a:xfrm>
          <a:prstGeom prst="circularArrow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47504" y="1792224"/>
            <a:ext cx="1234440" cy="1234440"/>
          </a:xfrm>
          <a:prstGeom prst="ellipse">
            <a:avLst/>
          </a:prstGeom>
          <a:solidFill>
            <a:srgbClr val="FAFCFF"/>
          </a:solidFill>
          <a:ln w="889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SC"/>
              </a:rPr>
              <a:t>Main Loop
主循环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3108960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70" b="0">
                <a:solidFill>
                  <a:srgbClr val="475569"/>
                </a:solidFill>
                <a:latin typeface="Noto Sans CJK SC"/>
              </a:rPr>
              <a:t>Plan → Dispatch → Observe → Verify → Optimize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12480" y="2331720"/>
            <a:ext cx="1014984" cy="0"/>
          </a:xfrm>
          <a:prstGeom prst="line">
            <a:avLst/>
          </a:prstGeom>
          <a:ln w="2159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49640" y="2093976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70" b="1">
                <a:solidFill>
                  <a:srgbClr val="4F46E5"/>
                </a:solidFill>
                <a:latin typeface="Noto Sans CJK SC"/>
              </a:rPr>
              <a:t>message / events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16568" y="3657600"/>
            <a:ext cx="2414016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Noto Sans CJK SC"/>
              </a:rPr>
              <a:t>spawn sub‑loops / 派生子循环</a:t>
            </a:r>
          </a:p>
        </p:txBody>
      </p:sp>
      <p:sp>
        <p:nvSpPr>
          <p:cNvPr id="64" name="Oval 63"/>
          <p:cNvSpPr/>
          <p:nvPr/>
        </p:nvSpPr>
        <p:spPr>
          <a:xfrm>
            <a:off x="9171432" y="3977639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680" b="1">
                <a:solidFill>
                  <a:srgbClr val="0F172A"/>
                </a:solidFill>
                <a:latin typeface="Noto Sans CJK SC"/>
              </a:rPr>
              <a:t>Research
Loop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9491472" y="3182112"/>
            <a:ext cx="868680" cy="795527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104120" y="4251960"/>
            <a:ext cx="640080" cy="64008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680" b="1">
                <a:solidFill>
                  <a:srgbClr val="0F172A"/>
                </a:solidFill>
                <a:latin typeface="Noto Sans CJK SC"/>
              </a:rPr>
              <a:t>Coding
Loop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360152" y="3182112"/>
            <a:ext cx="64008" cy="1069848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972800" y="3959352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680" b="1">
                <a:solidFill>
                  <a:srgbClr val="0F172A"/>
                </a:solidFill>
                <a:latin typeface="Noto Sans CJK SC"/>
              </a:rPr>
              <a:t>Web QA
Loop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360152" y="3182112"/>
            <a:ext cx="932688" cy="777240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189720" y="5230368"/>
            <a:ext cx="2340864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00" b="1">
                <a:solidFill>
                  <a:srgbClr val="166534"/>
                </a:solidFill>
                <a:latin typeface="Noto Sans CJK SC"/>
              </a:rPr>
              <a:t>Auto Lab / 自进化
Benchmark feedback → Skill / Operator / Prompt evolution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110727" y="4169663"/>
            <a:ext cx="1078993" cy="1362457"/>
          </a:xfrm>
          <a:prstGeom prst="line">
            <a:avLst/>
          </a:prstGeom>
          <a:ln w="1778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394192" y="4709160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40" b="1">
                <a:solidFill>
                  <a:srgbClr val="16A34A"/>
                </a:solidFill>
                <a:latin typeface="Noto Sans CJK SC"/>
              </a:rPr>
              <a:t>benchmark signal</a:t>
            </a:r>
          </a:p>
        </p:txBody>
      </p:sp>
      <p:cxnSp>
        <p:nvCxnSpPr>
          <p:cNvPr id="73" name="Connector 72"/>
          <p:cNvCxnSpPr/>
          <p:nvPr/>
        </p:nvCxnSpPr>
        <p:spPr>
          <a:xfrm flipH="1" flipV="1">
            <a:off x="8412480" y="3081528"/>
            <a:ext cx="777240" cy="2249424"/>
          </a:xfrm>
          <a:prstGeom prst="line">
            <a:avLst/>
          </a:prstGeom>
          <a:ln w="15240">
            <a:solidFill>
              <a:srgbClr val="7E22C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098280" y="6089904"/>
            <a:ext cx="25146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40" b="1">
                <a:solidFill>
                  <a:srgbClr val="0F172A"/>
                </a:solidFill>
                <a:latin typeface="Noto Sans CJK SC"/>
              </a:rPr>
              <a:t>核心原则：验证基础设施化，执行资源池化，优化闭环化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4048" y="6565392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650" b="0">
                <a:solidFill>
                  <a:srgbClr val="64748B"/>
                </a:solidFill>
                <a:latin typeface="Noto Sans CJK SC"/>
              </a:rPr>
              <a:t>整理自手绘草图｜本页由可编辑 PowerPoint 形状、连接线和文本框构成；可继续拆分为控制面 / 评测面 / 执行面三张图。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